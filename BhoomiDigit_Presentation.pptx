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641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BHOOMIDIGIT  /  DILRMP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1064240" y="6492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26 018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772400" y="-1005840"/>
            <a:ext cx="5577840" cy="5577840"/>
          </a:xfrm>
          <a:prstGeom prst="arc">
            <a:avLst/>
          </a:prstGeom>
          <a:solidFill>
            <a:srgbClr val="0B1F33">
              <a:alpha val="0"/>
            </a:srgbClr>
          </a:solidFill>
          <a:ln w="27940">
            <a:solidFill>
              <a:srgbClr val="16435A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778240" y="1097280"/>
            <a:ext cx="3840480" cy="3840480"/>
          </a:xfrm>
          <a:prstGeom prst="arc">
            <a:avLst/>
          </a:prstGeom>
          <a:solidFill>
            <a:srgbClr val="0B1F33">
              <a:alpha val="0"/>
            </a:srgbClr>
          </a:solidFill>
          <a:ln w="19050">
            <a:solidFill>
              <a:srgbClr val="14B8A6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260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BHOOMIDIGIT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65836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 records , made legible.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76656" y="299923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C7D8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multilingual digitization &amp; human-in-the-loop validation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" y="3977640"/>
            <a:ext cx="9144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4187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 ID 26018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6656" y="450799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9C0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Ministry of Rural Development  |  Department of Land Resources (DoLR)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656" y="5074920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123B4E"/>
          </a:solidFill>
          <a:ln w="12700">
            <a:solidFill>
              <a:srgbClr val="123B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50840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65376" y="5074920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16435A"/>
          </a:solidFill>
          <a:ln w="12700">
            <a:solidFill>
              <a:srgbClr val="164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5376" y="5084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DE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NAME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6656" y="57150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829A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members  •  College name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03720" y="57150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9DC8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bridge from paper archives to trusted digital land rights.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PROPOSITION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fragile paper into trusted records.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BhoomiDigit combines multimodal AI with officer judgment—so speed never comes at the cost of accuracy.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0FDFA"/>
          </a:solidFill>
          <a:ln w="10160">
            <a:solidFill>
              <a:srgbClr val="8ADFD4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0392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9032" y="2075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digitization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99032" y="24963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Ingests faded PDFs, paper scans and handwritten Satbara 7/12, Khatauni and Patta records across Indic scripts.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0392" y="3099816"/>
            <a:ext cx="3200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26480" y="1874520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82512" y="210312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31152" y="2075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Context-aware extraction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31152" y="249631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Survey/Gat No, owners, acreage and administrative geography into structured JSON.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82512" y="3099816"/>
            <a:ext cx="3200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840480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" y="4069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99032" y="40416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99032" y="44622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Surfaces low-confidence fields with visual badges for fast officer review and correction.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0392" y="5065776"/>
            <a:ext cx="3200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3840480"/>
            <a:ext cx="50749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82512" y="406908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31152" y="404164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Cross-attribute validation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31152" y="446227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area totals, formats and conflicts before a record is committed to the registry.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82512" y="5065776"/>
            <a:ext cx="3200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9436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result: a searchable, reviewable record—not a black-box OCR dump.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path from scan to sync.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stage improves the next: cleaner pixels, richer context, safer decisions.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SCANNED RECORD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9224" y="29535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/ PDF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21408" y="2587752"/>
            <a:ext cx="246888" cy="320040"/>
          </a:xfrm>
          <a:prstGeom prst="chevron">
            <a:avLst/>
          </a:prstGeom>
          <a:solidFill>
            <a:srgbClr val="B8C5D3"/>
          </a:solidFill>
          <a:ln w="12700">
            <a:solidFill>
              <a:srgbClr val="B8C5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205740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78608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44368" y="2176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78608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87752" y="29535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 preprocessing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059936" y="2587752"/>
            <a:ext cx="246888" cy="320040"/>
          </a:xfrm>
          <a:prstGeom prst="chevron">
            <a:avLst/>
          </a:prstGeom>
          <a:solidFill>
            <a:srgbClr val="B8C5D3"/>
          </a:solidFill>
          <a:ln w="12700">
            <a:solidFill>
              <a:srgbClr val="B8C5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205740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17136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82896" y="2176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◎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17136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26280" y="29535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+ entity parsing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98464" y="2587752"/>
            <a:ext cx="246888" cy="320040"/>
          </a:xfrm>
          <a:prstGeom prst="chevron">
            <a:avLst/>
          </a:prstGeom>
          <a:solidFill>
            <a:srgbClr val="B8C5D3"/>
          </a:solidFill>
          <a:ln w="12700">
            <a:solidFill>
              <a:srgbClr val="B8C5D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18504" y="205740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55664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21424" y="2176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55664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64808" y="29535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confidence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936992" y="2587752"/>
            <a:ext cx="246888" cy="320040"/>
          </a:xfrm>
          <a:prstGeom prst="chevron">
            <a:avLst/>
          </a:prstGeom>
          <a:solidFill>
            <a:srgbClr val="B8C5D3"/>
          </a:solidFill>
          <a:ln w="12700">
            <a:solidFill>
              <a:srgbClr val="B8C5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57032" y="205740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FFF7E6"/>
          </a:solidFill>
          <a:ln w="10160">
            <a:solidFill>
              <a:srgbClr val="F4C35E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94192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759952" y="2176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◌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94192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HITL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03336" y="29535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Officer verification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875520" y="2587752"/>
            <a:ext cx="246888" cy="320040"/>
          </a:xfrm>
          <a:prstGeom prst="chevron">
            <a:avLst/>
          </a:prstGeom>
          <a:solidFill>
            <a:srgbClr val="B8C5D3"/>
          </a:solidFill>
          <a:ln w="12700">
            <a:solidFill>
              <a:srgbClr val="B8C5D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95560" y="2057400"/>
            <a:ext cx="15544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332720" y="221284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698480" y="21762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▣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332720" y="26517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LRMS SYNC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41864" y="295351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DILRMP / State DB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58368" y="4160520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0FDFA"/>
          </a:solidFill>
          <a:ln w="10160">
            <a:solidFill>
              <a:srgbClr val="A7E8DF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96112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96112" y="468172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  •  thresholding  •  noise removal  •  deskewing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25696" y="4160520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EFF6FF"/>
          </a:solidFill>
          <a:ln w="10160">
            <a:solidFill>
              <a:srgbClr val="B8D3FA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6344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46817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Vision / TrOCR / IndicOCR → structured JSON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93024" y="4160520"/>
            <a:ext cx="3337560" cy="1078992"/>
          </a:xfrm>
          <a:prstGeom prst="roundRect">
            <a:avLst>
              <a:gd name="adj" fmla="val 5085"/>
            </a:avLst>
          </a:prstGeom>
          <a:solidFill>
            <a:srgbClr val="FFF7E6"/>
          </a:solidFill>
          <a:ln w="10160">
            <a:solidFill>
              <a:srgbClr val="F4D18A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430768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430768" y="468172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Gradio / Next.js canvas with real-time field editing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31520" y="58704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REST layer  •  designed for interoperability with DILRMP and State LRMS databases</a:t>
            </a:r>
            <a:endParaRPr lang="en-US" sz="11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DELIVERY CONFIDENCE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imperfect documents—and real operations.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keeps uncertainty visible, manageable and compatible with existing government systems.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128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58775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cloud-ready core that already has a path to production.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694176"/>
            <a:ext cx="393192" cy="393192"/>
          </a:xfrm>
          <a:prstGeom prst="ellipse">
            <a:avLst/>
          </a:prstGeom>
          <a:solidFill>
            <a:srgbClr val="DDF8F3"/>
          </a:solidFill>
          <a:ln w="12700">
            <a:solidFill>
              <a:srgbClr val="DDF8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03320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44752" y="3675888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pipeline + interactive verification dashboard prototyped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4123944"/>
            <a:ext cx="393192" cy="393192"/>
          </a:xfrm>
          <a:prstGeom prst="ellipse">
            <a:avLst/>
          </a:prstGeom>
          <a:solidFill>
            <a:srgbClr val="DDF8F3"/>
          </a:solidFill>
          <a:ln w="12700">
            <a:solidFill>
              <a:srgbClr val="DDF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33088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44752" y="4105656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API-driven design avoids expensive local server upgrades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553712"/>
            <a:ext cx="393192" cy="393192"/>
          </a:xfrm>
          <a:prstGeom prst="ellipse">
            <a:avLst/>
          </a:prstGeom>
          <a:solidFill>
            <a:srgbClr val="DDF8F3"/>
          </a:solidFill>
          <a:ln w="12700">
            <a:solidFill>
              <a:srgbClr val="DDF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62856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44752" y="4535424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microservices expose clean integration boundaries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FFFCF5"/>
          </a:solidFill>
          <a:ln w="10160">
            <a:solidFill>
              <a:srgbClr val="F4D18A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→ RESPONSE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2724912"/>
            <a:ext cx="393192" cy="393192"/>
          </a:xfrm>
          <a:prstGeom prst="ellipse">
            <a:avLst/>
          </a:prstGeom>
          <a:solidFill>
            <a:srgbClr val="FFF1C7"/>
          </a:solidFill>
          <a:ln w="12700">
            <a:solidFill>
              <a:srgbClr val="FFF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734056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27249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Torn / faded documents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40880" y="304495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scoring routes uncertainty to review.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3657600"/>
            <a:ext cx="4480560" cy="0"/>
          </a:xfrm>
          <a:prstGeom prst="line">
            <a:avLst/>
          </a:prstGeom>
          <a:noFill/>
          <a:ln w="10160">
            <a:solidFill>
              <a:srgbClr val="F4D1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913632"/>
            <a:ext cx="393192" cy="393192"/>
          </a:xfrm>
          <a:prstGeom prst="ellipse">
            <a:avLst/>
          </a:prstGeom>
          <a:solidFill>
            <a:srgbClr val="FFF1C7"/>
          </a:solidFill>
          <a:ln w="12700">
            <a:solidFill>
              <a:srgbClr val="FFF1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922776"/>
            <a:ext cx="393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40880" y="3913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scripts &amp; dialects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040880" y="4233672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vision models + active learning feedback loops.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59618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Principle: automation handles volume; officers retain authority.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THE PAYOFF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verified record count.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BhoomiDigit turns digitization into a service improvement citizens can feel.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0156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9572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5 sec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RECORD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9264" y="340156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15–20 minutes of manual processing to near-real-time extraction.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53128" y="2057400"/>
            <a:ext cx="3401568" cy="2011680"/>
          </a:xfrm>
          <a:prstGeom prst="roundRect">
            <a:avLst>
              <a:gd name="adj" fmla="val 2727"/>
            </a:avLst>
          </a:prstGeom>
          <a:solidFill>
            <a:srgbClr val="F0FDFA"/>
          </a:solidFill>
          <a:ln w="10160">
            <a:solidFill>
              <a:srgbClr val="8ADFD4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27448" y="239572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727448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82312" y="340156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Timestamped officer approvals create tamper-evident digital records.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66176" y="2057400"/>
            <a:ext cx="340156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  <a:effectLst>
            <a:outerShdw blurRad="12700" dist="50800" dir="2700000" algn="bl" rotWithShape="0">
              <a:srgbClr val="B8C5D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0496" y="239572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mission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540496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3401568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Accelerates DILRMP’s path toward searchable rural and semi-urban registries.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OUTCOMES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" y="5239512"/>
            <a:ext cx="256032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413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mutation approvals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17136" y="5239512"/>
            <a:ext cx="256032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7136" y="5413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property registration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84464" y="5239512"/>
            <a:ext cx="25603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5413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Friction-free collateral verification for farmer loans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kern="0" spc="16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EVIDENCE BASE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on open standards and national context.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7160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pragmatic stack that connects research-grade document intelligence to public digital infrastructure.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13232" y="2441448"/>
            <a:ext cx="107442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98448" y="19385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DILRMP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11880" y="19385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Land Records Database Schema guidelines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41080" y="19385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Department of Land Resources (DoLR)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232" y="3282696"/>
            <a:ext cx="107442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529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7797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IndicOCR + LayoutLM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27797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 for layout analysis and handwritten Indic text extraction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41080" y="27797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foundations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" y="4123944"/>
            <a:ext cx="107442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941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98448" y="36210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OpenCV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36210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preprocessing for binarization, thresholding and degraded records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41080" y="3621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vision standards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4965192"/>
            <a:ext cx="1074420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354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44622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NGDRS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11880" y="44622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integration standards for citizen land records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41080" y="44622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National registration ecosystem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623560"/>
            <a:ext cx="10698480" cy="502920"/>
          </a:xfrm>
          <a:prstGeom prst="roundRect">
            <a:avLst>
              <a:gd name="adj" fmla="val 10909"/>
            </a:avLst>
          </a:prstGeom>
          <a:solidFill>
            <a:srgbClr val="0B1F33"/>
          </a:solidFill>
          <a:ln w="10160">
            <a:solidFill>
              <a:srgbClr val="0B1F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769864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BhoomiDigit  /  Digitize with speed. Validate with confidence. Govern with transparency.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562</Words>
  <Application>Microsoft Office PowerPoint</Application>
  <PresentationFormat>Widescreen</PresentationFormat>
  <Paragraphs>126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BhoomiDigit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BhoomiDigit</dc:title>
  <dc:subject>Intelligent Land Record Digitization and Validation System</dc:subject>
  <dc:creator>BhoomiDigit Team</dc:creator>
  <cp:lastModifiedBy>Pranav Joshi</cp:lastModifiedBy>
  <cp:revision>2</cp:revision>
  <dcterms:created xsi:type="dcterms:W3CDTF">2026-08-25T15:34:53Z</dcterms:created>
  <dcterms:modified xsi:type="dcterms:W3CDTF">2026-08-25T15:38:19Z</dcterms:modified>
</cp:coreProperties>
</file>